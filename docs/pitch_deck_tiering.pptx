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1A365D"/>
                </a:solidFill>
              </a:defRPr>
            </a:pPr>
            <a:r>
              <a:t>Elastic Test-Time Memory:</a:t>
            </a:r>
          </a:p>
          <a:p>
            <a:pPr algn="l">
              <a:defRPr sz="3300" b="1">
                <a:solidFill>
                  <a:srgbClr val="1A365D"/>
                </a:solidFill>
              </a:defRPr>
            </a:pPr>
            <a:r>
              <a:t>Recurrent State의 학습된 Hot/Cold 티어링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111"/>
                </a:solidFill>
              </a:defRPr>
            </a:pPr>
            <a:r>
              <a:t>공개 Nemotron-9B의 0.04% (직교 회전 R)만 재학습 → decode B200 실측 1.92~2.42×,</a:t>
            </a:r>
          </a:p>
          <a:p>
            <a:pPr algn="l">
              <a:defRPr sz="1600" b="0">
                <a:solidFill>
                  <a:srgbClr val="111111"/>
                </a:solidFill>
              </a:defRPr>
            </a:pPr>
            <a:r>
              <a:t>공식 평가 스택(NeMo-Skills+vLLM) 전 벤치 lossless (GSM8K 94.6 / MATH-500 95.2 / RULER 98-100)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SNU ARC Lab · 2026-07 · 미팅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1. Background — SSM/Linear Attention의 기억은 '행렬 S' 하나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토큰 s가 토큰 t에 미치는 영향의 전부는 state를 경유한다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t>갱신:  S_t = a_t · S_{t−1} + Δx_t ⊗ B_t        (S ∈ ℝ^{P×N},  a_t ∈ (0,1) per-head 스칼라 decay)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t>읽기:  y_t = S_t · C_t                                (N축 내적)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t>펼치면 — 토큰 s의 t에서의 기여:   y_t = Σ_s ( a_{s+1}·a_{s+2}···a_t ) · ⟨C_t , B_s⟩ · Δx_s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554480" cy="82296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토큰 s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(과거)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3246120"/>
            <a:ext cx="137160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쓰기 주소 B_s (key)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514600"/>
            <a:ext cx="2834640" cy="182880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STATE  S  (P×N)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모든 과거의 압축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= 유일한 기억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66560" y="3246120"/>
            <a:ext cx="137160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읽기 주소 C_t (query)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1554480" cy="82296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토큰 t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(현재)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617720"/>
            <a:ext cx="219456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000" b="0">
                <a:solidFill>
                  <a:srgbClr val="111111"/>
                </a:solidFill>
              </a:defRPr>
            </a:pPr>
            <a:r>
              <a:t>감쇠 ∏ a_τ  (s→t 나이만큼)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⟨C_t, B_s⟩ = N차원 주소 공간의 내적 — "attention 행렬 없는 attention". N = 주소 공간 크기 = recall 용량 (Zoology/BASED 법칙).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attention과의 결정적 차이: 過去를 다시 볼 수 없다 — S에 남긴 것이 전부. 그래서 state가 크고 소중하다.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2. 병목 — decode는 매 토큰 S 전체를 왕복한다 (memory-bound)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B200 실측: 대배치 서빙에서 state-op가 지배 성분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2377440" cy="137160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GPU 연산부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(SM)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371600"/>
            <a:ext cx="3017520" cy="137160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HBM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state S = 141.6 MB/시퀀스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(9B, N=128)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1508760"/>
            <a:ext cx="4023360" cy="365760"/>
          </a:xfrm>
          <a:prstGeom prst="right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21615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62728"/>
                </a:solidFill>
              </a:defRPr>
            </a:pPr>
            <a:r>
              <a:t>매 토큰 READ 전체 (1.0 S)</a:t>
            </a:r>
          </a:p>
        </p:txBody>
      </p:sp>
      <p:sp>
        <p:nvSpPr>
          <p:cNvPr id="7" name="Left Arrow 6"/>
          <p:cNvSpPr/>
          <p:nvPr/>
        </p:nvSpPr>
        <p:spPr>
          <a:xfrm>
            <a:off x="3657600" y="2240280"/>
            <a:ext cx="4023360" cy="365760"/>
          </a:xfrm>
          <a:prstGeom prst="left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62728"/>
                </a:solidFill>
              </a:defRPr>
            </a:pPr>
            <a:r>
              <a:t>매 토큰 WRITE 전체 (1.0 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토큰당 연산/바이트(OI) ≈ 1 — GPU 균형점(~300)의 0.3%. 연산이 아니라 트래픽이 시간을 지배.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B200 vLLM 실측: state-op 점유 2.6% (B=1) → 57.6% (B=256) → 60% (B=1152). throughput 천장 11.9k tok/s, capacity wall B≈1230.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커널 실측: tok/s ∝ 1/state (기울기 −1 정확), 메모리 용량 2×를 줘도 tok/s 불변 — 벽은 용량이 아니라 대역폭×state 크기.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→ 목표: 정확도를 지키면서 '매 토큰 움직이는 바이트'를 줄이는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3. 왜 기존 길들은 안 되는가 — 실측 사다리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줄이기·자르기·골라읽기 전부 유료; 남는 길은 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96012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① state 줄이기 (작은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t>recall 용량 자체가 하락</a:t>
            </a:r>
            <a:br/>
            <a:r>
              <a:t>(Zoology: state=recall 법칙)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74720" cy="96012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② 덜 중요한 차원 삭제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(GHOST류 calibration 절단)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2860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t>GSM8K 85.0 → 58.5 (−26.5)</a:t>
            </a:r>
            <a:br/>
            <a:r>
              <a:t>학습된 기저로 잘라도 −25.5</a:t>
            </a:r>
            <a:br/>
            <a:r>
              <a:t>희생축 = 다단계 추론</a:t>
            </a:r>
            <a:br/>
            <a:r>
              <a:t>(wikitext ppl은 +1뿐 — 함정)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474720" cy="96012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③ 토큰마다 골라 읽기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(Quest류 동적 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t>압축 state엔 per-token</a:t>
            </a:r>
            <a:br/>
            <a:r>
              <a:t>희소성이 없음 — 열 top-k</a:t>
            </a:r>
            <a:br/>
            <a:r>
              <a:t>읽기 33%→acc 74, 8%→21 붕괴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10972800" cy="105156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t>④ 우리: 아무것도 버리지 않고, 덜 중요한 부분만 '낡은 채로 읽고(stale) 몰아서 정확히 쓴다(lazy)'  —  GSM8K −0.5 (공식 스택, 학습 후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핵심 대조: sparse-and-fresh (무엇을 저장할지 선택 — 비가역 손실)  vs  dense-but-stale (언제 반영할지만 지연 — 오차가 최근 c토큰에 국한, 정확 보상)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4. 아이디어 — State의 N축을 Hot / Cold 두 티어로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learned write-back cache hierarchy: 분할 기준은 시간이 아니라 '트래픽'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</a:defRPr>
            </a:pPr>
            <a:r>
              <a:t>S  (P × N),  N축을 분할: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371600" cy="2377440"/>
          </a:xfrm>
          <a:prstGeom prst="rect">
            <a:avLst/>
          </a:prstGeom>
          <a:solidFill>
            <a:srgbClr val="FCA5A5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HOT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32열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45920"/>
            <a:ext cx="3840480" cy="237744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COLD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96열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← P (head·채널 축, 그대로) —  분할은 회전 후 N(주소) 축에서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4754880" cy="123444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1">
                <a:solidFill>
                  <a:srgbClr val="111111"/>
                </a:solidFill>
              </a:defRPr>
            </a:pPr>
            <a:r>
              <a:t>HOT: 매 토큰 fresh READ+WRITE</a:t>
            </a:r>
          </a:p>
          <a:p>
            <a:pPr algn="ctr">
              <a:defRPr sz="1300" b="1">
                <a:solidFill>
                  <a:srgbClr val="111111"/>
                </a:solidFill>
              </a:defRPr>
            </a:pPr>
            <a:r>
              <a:t>(트래픽 상위 차원 — 항상 최신)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834640"/>
            <a:ext cx="4754880" cy="155448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50" b="1">
                <a:solidFill>
                  <a:srgbClr val="111111"/>
                </a:solidFill>
              </a:defRPr>
            </a:pPr>
            <a:r>
              <a:t>COLD: 읽기 = 낡은 snapshot + decay 정확보상</a:t>
            </a:r>
          </a:p>
          <a:p>
            <a:pPr algn="ctr">
              <a:defRPr sz="1250" b="1">
                <a:solidFill>
                  <a:srgbClr val="111111"/>
                </a:solidFill>
              </a:defRPr>
            </a:pPr>
            <a:r>
              <a:t>쓰기 = c토큰마다 chunk-exact write-back</a:t>
            </a:r>
          </a:p>
          <a:p>
            <a:pPr algn="ctr">
              <a:defRPr sz="1250" b="1">
                <a:solidFill>
                  <a:srgbClr val="111111"/>
                </a:solidFill>
              </a:defRPr>
            </a:pPr>
            <a:r>
              <a:t>(READ −47% / WRITE −61% @ c4 실측)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정적 연속 prefix 분할: 토큰별 controller 없음, 메타데이터 0, 연속 6KB 블록 — '무엇이 hot인가'는 학습이 R에 구워 놓음.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오차의 정체: 최근 c토큰의 cold 성분이 readout에 늦게 반영되는 것뿐 (age-국소·내용 무관). flush는 수학적으로 exact.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속도 결과: B200 실측 1.62×(c4·bf16) ~ 2.42×(c16·bf16) — 매 토큰 2.0S 이동이 ~0.8S로.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5. 추가 컴포넌트는 '직교 회전 R' 하나 (0.04%)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백본 동결 · 레이어당 그룹별 R (27층 × 8그룹 × 128×128 = 3.5M 파라미터)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2801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00" b="0">
                <a:solidFill>
                  <a:srgbClr val="111111"/>
                </a:solidFill>
              </a:defRPr>
            </a:pPr>
            <a:r>
              <a:t>x_t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19" y="1737360"/>
            <a:ext cx="54864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8880" y="1554480"/>
            <a:ext cx="1645920" cy="73152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in_proj</a:t>
            </a:r>
          </a:p>
          <a:p>
            <a:pPr algn="ctr">
              <a:defRPr sz="1100" b="0">
                <a:solidFill>
                  <a:srgbClr val="111111"/>
                </a:solidFill>
              </a:defRPr>
            </a:pPr>
            <a:r>
              <a:t>+ conv/act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60520" y="1737360"/>
            <a:ext cx="54864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25880"/>
            <a:ext cx="1371600" cy="54864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B_t 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011680"/>
            <a:ext cx="1371600" cy="54864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C_t (query)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2200" y="1737360"/>
            <a:ext cx="54864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71600"/>
            <a:ext cx="1737360" cy="1143000"/>
          </a:xfrm>
          <a:prstGeom prst="roundRect">
            <a:avLst/>
          </a:prstGeom>
          <a:solidFill>
            <a:srgbClr val="FDE68A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t>R  (학습 대상)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t>B→RB, C→RC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t>그룹별 직교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49640" y="1737360"/>
            <a:ext cx="54864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371600"/>
            <a:ext cx="2377440" cy="114300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SSM 코어 (동결)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S 갱신·읽기는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회전 좌표에서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회전 불변성 정리 (명제 1):  B→RB, C→RC (직교, per-group)  ⇒  S → S·Rᵀ,  출력 y는 불변.</a:t>
            </a:r>
          </a:p>
          <a:p>
            <a:pPr algn="l">
              <a:defRPr sz="1400" b="1">
                <a:solidFill>
                  <a:srgbClr val="1A365D"/>
                </a:solidFill>
              </a:defRPr>
            </a:pPr>
            <a:r>
              <a:t>⟨RC_t, RB_s⟩ = C_tᵀRᵀR B_s = ⟨C_t, B_s⟩  —  RᵀR = I 가 모든 내적·길이를 보존 (수동적 좌표 교체).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따라서: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full-width(티어링 off)의 정확도는 수학적으로 보존 — 공식 스택 실증: fresh = raw 정답 수까지 동일.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R은 '무엇을 배우는가'가 아니라 '어느 좌표에서 볼 것인가'만 배움 — 가설 공간이 작아 과적합이 원리적으로 어려움.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학습으로 바뀌는 것은 R 단독 (decay 미세조정은 bf16 정밀도에 흡수됨을 확인 — 정직 기술).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성립 조건: per-head 스칼라 decay 가족(Mamba-2/GDN — Nemotron·Qwen 계열)은 무조건; 채널별 decay(GLA/KDA)는 경량 FT 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6. '차원을 정렬한다'의 수학 — 트래픽 연산자 M의 고유기저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집중은 이미 존재한다; R은 그것을 좌표축에 맞출 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111"/>
                </a:solidFill>
              </a:defRPr>
            </a:pPr>
            <a:r>
              <a:t>방향 r ∈ ℝ^N 이 나르는 평균 트래픽:   T(r) = rᵀ M r,    M = E[ C Bᵀ · w ]   (w = loss 민감도 가중)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앞 k개 좌표가 트래픽을 최대로 담게 하는 R = M(대칭화)의 고유기저, 고유값 내림차순 — nested dropout → PCA 정리의 연산자판.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s→t 기여식은 어느 직교 기저에서 계산해도 동일하므로(불변성), '정렬'은 성능이 아니라 배치(placement)의 문제.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t>원 좌표: T = (0.22, 0.22, 0.12, 0.22, 0.22) — 균등해 보임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412894"/>
            <a:ext cx="640080" cy="84490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965960" y="4412894"/>
            <a:ext cx="640080" cy="84490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834639" y="4796942"/>
            <a:ext cx="640080" cy="460857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3703320" y="4412894"/>
            <a:ext cx="640080" cy="84490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4572000" y="4412894"/>
            <a:ext cx="640080" cy="84490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0" y="24871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t>회전 좌표: T′ = (0.60, 0.25, 0.15, 0, 0) — 고유값 수열로 정렬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953512"/>
            <a:ext cx="640080" cy="2304288"/>
          </a:xfrm>
          <a:prstGeom prst="rect">
            <a:avLst/>
          </a:prstGeom>
          <a:solidFill>
            <a:srgbClr val="FCA5A5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7452360" y="4297680"/>
            <a:ext cx="640080" cy="960120"/>
          </a:xfrm>
          <a:prstGeom prst="rect">
            <a:avLst/>
          </a:prstGeom>
          <a:solidFill>
            <a:srgbClr val="FCA5A5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8321040" y="4681728"/>
            <a:ext cx="640080" cy="576072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9189720" y="5211714"/>
            <a:ext cx="640080" cy="4608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0058400" y="5211714"/>
            <a:ext cx="640080" cy="46085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5836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62728"/>
                </a:solidFill>
              </a:defRPr>
            </a:pPr>
            <a:r>
              <a:t>hot = 앞 2서랍이 85% 커버 (원 좌표 최선 44%)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실측 반전 (E-T1): 크기 통계로 명시 추정한 M의 고유기저는 학습 R과 무상관 (주각 cos 0.44 ≈ 무작위; 시차·열노름·질의에너지 4중 수렴).</a:t>
            </a:r>
          </a:p>
          <a:p>
            <a:pPr algn="l">
              <a:defRPr sz="1300" b="1">
                <a:solidFill>
                  <a:srgbClr val="1A365D"/>
                </a:solidFill>
              </a:defRPr>
            </a:pPr>
            <a:r>
              <a:t>→ 중요도의 자(w)는 '크기'가 아니라 'loss 민감도' — training-free 통계로 대체 불가 = calibration류(GHOST)가 실패하고 end-to-end 학습이 필수인 이유.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7. 왜 일반화되는가 — 이론이 아니라 실측으로 답한다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E-T1: 학습 기저는 어떤 통계와도 다르다 · E-T2: 그런데 도메인을 넘어 이식된다</a:t>
            </a:r>
          </a:p>
        </p:txBody>
      </p:sp>
      <p:pic>
        <p:nvPicPr>
          <p:cNvPr id="3" name="Picture 2" descr="F5_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32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왼쪽: 학습 R의 hot 부분공간 vs 명시 통계 고유공간 — 무작위 수준 (중요도는 loss가 정의).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오른쪽: 같은 R 하나의 절단세(ppl 세율) 곡선이 wiki/수학/코드에서 겹침(k16: 1.26/1.31/1.27×) — calibration 순열은 자기 폭 밖 절벽(17~36×).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8. 학습 방법론 — '티어링 실행권'을 사는 3요소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총 수 GPU-시간, 백본 동결, R만 학습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66160" cy="173736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① Nested 폭 메뉴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(정렬을 만드는 힘)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스텝마다 폭 k ∈ {16,32,64,128} 추첨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→ 앞 좌표일수록 자주 loss에 노출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= 암묵적 '중요도 투표'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3566160" cy="173736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② v4-aware 학습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(staleness 내성)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스텝의 절반을 tiered forward로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(c ∈ {4..64} 추첨)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→ 모델이 낡은 cold 읽기에 적응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25880"/>
            <a:ext cx="3566160" cy="173736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③ QR retraction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(무손실 보장 유지)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매 스텝 R을 직교 다양체로 사영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→ 명제 1의 전제(RᵀR=I)가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학습 내내 정확히 성립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3200400"/>
            <a:ext cx="274320" cy="4572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11064240" cy="86868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t>장문 CoT 마감 레시피 (longcot2): seqlen 4096 + c4·c8 가중 혼합 — "장문 staleness는 장문으로 가르쳐야" → GSM8K v4-c4 = fresh (+0.4, lossless)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학습이 실제로 사는 것 (실측 사슬):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학습 없이 티어링만: GSM8K 33.0 (−48.6, 정밀도 무관 붕괴) → 학습 후: 81.6 (= fresh). 실행권 = 학습의 산물.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함정 2건: full-width 강제 distill은 폭 탄력성 파괴(폭 샘플링 유지 필수) · 단일 도메인(wikitext) 학습은 다운스트림 드리프트(혼합 필수).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9. 실행 의미론 (v4) — 타임라인으로 보기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hot은 항상 최신, cold는 'snapshot + 감쇠 보상'으로 읽고 c마다 정확히 따라잡음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63040"/>
            <a:ext cx="77724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t=8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463040"/>
            <a:ext cx="2834640" cy="54864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HOT: 매 토큰 R/W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8755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94767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290779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386791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482803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78815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74827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708392" y="2103120"/>
            <a:ext cx="228600" cy="411480"/>
          </a:xfrm>
          <a:prstGeom prst="downArrow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606040"/>
            <a:ext cx="7863840" cy="54864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hot state (항상 fresh)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867912" y="3246120"/>
            <a:ext cx="274320" cy="457200"/>
          </a:xfrm>
          <a:prstGeom prst="down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7708392" y="3246120"/>
            <a:ext cx="274320" cy="457200"/>
          </a:xfrm>
          <a:prstGeom prst="down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7863840" cy="54864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cold state (c=4마다 chunk-exact write-back — 개루프, 수학적 exact)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794760"/>
            <a:ext cx="2834640" cy="54864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COLD 쓰기: c마다 몰아서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읽기: y_t = C_t·S_hot(최신) + C_t·S_cold(snapshot)·exp(G_t) — 감쇠는 정확히 보상, 늦는 건 최근 c토큰의 cold 성분뿐.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flush가 개루프(청크 단위 재계산)라는 점이 뒤의 정밀도 면허(fp8-cold)의 근원 — 라운딩 오차가 재귀에 복리로 쌓이지 않음.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c = 정확도↔속도 다이얼: 생성이 긴 태스크(수학 CoT)는 c4, 짧은 답(recall)은 c16 — 재학습 없이 config로.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10. 결과 — 공식 스택 3-arm 매트릭스 + B200 속도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acc = NeMo-Skills + vLLM (공식 논문과 동일 측정), 3-arm = raw / fresh / v4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2286000" cy="50292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1325880"/>
            <a:ext cx="1188720" cy="50292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raw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1325880"/>
            <a:ext cx="2377440" cy="50292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fresh (R만 켬)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325880"/>
            <a:ext cx="3017520" cy="50292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v4-c4-fp8 (배포점)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1325880"/>
            <a:ext cx="2468880" cy="502920"/>
          </a:xfrm>
          <a:prstGeom prst="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1">
                <a:solidFill>
                  <a:srgbClr val="111111"/>
                </a:solidFill>
              </a:defRPr>
            </a:pPr>
            <a:r>
              <a:t>판정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28600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GSM8K (1319)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11887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828800"/>
            <a:ext cx="237744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95.0 (정답수 동일)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30175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94.6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828800"/>
            <a:ext cx="246888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lossless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31720"/>
            <a:ext cx="228600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MATH-500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331720"/>
            <a:ext cx="11887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97.6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331720"/>
            <a:ext cx="237744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98.2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331720"/>
            <a:ext cx="30175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95.2 → longcot2로 봉합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2331720"/>
            <a:ext cx="246888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−2.4 (staleness, 정밀도 무관)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34639"/>
            <a:ext cx="228600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RULER@4k niah 5종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834639"/>
            <a:ext cx="11887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98–100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834639"/>
            <a:ext cx="237744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834639"/>
            <a:ext cx="301752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98–100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2834639"/>
            <a:ext cx="2468880" cy="50292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lossless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</a:defRPr>
            </a:pPr>
            <a:r>
              <a:t>속도 (B200 실측, B=256, fused-only):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23360"/>
            <a:ext cx="26517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fresh (fp32)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1.00×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91840" y="4206240"/>
            <a:ext cx="45720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94760" y="4023360"/>
            <a:ext cx="3017520" cy="73152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0">
                <a:solidFill>
                  <a:srgbClr val="111111"/>
                </a:solidFill>
              </a:defRPr>
            </a:pPr>
            <a:r>
              <a:t>+ lazy write (tiering c4)</a:t>
            </a:r>
          </a:p>
          <a:p>
            <a:pPr algn="ctr">
              <a:defRPr sz="1200" b="0">
                <a:solidFill>
                  <a:srgbClr val="111111"/>
                </a:solidFill>
              </a:defRPr>
            </a:pPr>
            <a:r>
              <a:t>1.62× — WRITE −61%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58000" y="4206240"/>
            <a:ext cx="45720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4023360"/>
            <a:ext cx="2103120" cy="73152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t>+ bf16-cold (c16)</a:t>
            </a:r>
          </a:p>
          <a:p>
            <a:pPr algn="ctr">
              <a:defRPr sz="1200" b="1">
                <a:solidFill>
                  <a:srgbClr val="111111"/>
                </a:solidFill>
              </a:defRPr>
            </a:pPr>
            <a:r>
              <a:t>2.42×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9760" y="4206240"/>
            <a:ext cx="457200" cy="292608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4023360"/>
            <a:ext cx="1737360" cy="73152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100" b="0">
                <a:solidFill>
                  <a:srgbClr val="111111"/>
                </a:solidFill>
              </a:defRPr>
            </a:pPr>
            <a:r>
              <a:t>+ fp8-cold</a:t>
            </a:r>
          </a:p>
          <a:p>
            <a:pPr algn="ctr">
              <a:defRPr sz="1100" b="0">
                <a:solidFill>
                  <a:srgbClr val="111111"/>
                </a:solidFill>
              </a:defRPr>
            </a:pPr>
            <a:r>
              <a:t>~2.8× (analytic)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292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그 밖의 축 전부 3-arm 동률: commonsense 8 · recall-intensive 6(BASED) · RULER 11종 · HumanEval · needle 1.00 · ppl 0%.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· 부정 결과도 자산: async flush 이득 0(BW 포화 — 바이트만이 화폐) · 동적 골라읽기 붕괴(read 레버는 정밀도뿐).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11. 보너스 — 비대칭 정밀도 면허 (티어링이 fp8을 공짜로 만든다)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같은 fp8인데: 매 토큰 재귀에 넣으면 붕괴, cold snapshot에 넣으면 무손실 — 4-cell 전부 실측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146304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raw + fp8 매토큰 (폐루프)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MATH 93.2 붕괴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생성 2.2× 방황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486400" cy="1463040"/>
          </a:xfrm>
          <a:prstGeom prst="roundRect">
            <a:avLst/>
          </a:prstGeom>
          <a:solidFill>
            <a:srgbClr val="FEE2E2"/>
          </a:solidFill>
          <a:ln w="1778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미학습 + 티어링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GSM8K 33.0 붕괴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(정밀도 무관)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5486400" cy="146304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학습 R + 티어링 + fp32-cold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lossless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(81.6 = fresh)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63240"/>
            <a:ext cx="5486400" cy="1463040"/>
          </a:xfrm>
          <a:prstGeom prst="roundRect">
            <a:avLst/>
          </a:prstGeom>
          <a:solidFill>
            <a:srgbClr val="D1FAE5"/>
          </a:solidFill>
          <a:ln w="1778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>
              <a:defRPr sz="1400" b="1">
                <a:solidFill>
                  <a:srgbClr val="111111"/>
                </a:solidFill>
              </a:defRPr>
            </a:pPr>
            <a:r>
              <a:t>학습 R + 티어링 + fp8-cold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95.2 공식</a:t>
            </a:r>
          </a:p>
          <a:p>
            <a:pPr algn="ctr">
              <a:defRPr sz="1400" b="1">
                <a:solidFill>
                  <a:srgbClr val="111111"/>
                </a:solidFill>
              </a:defRPr>
            </a:pPr>
            <a:r>
              <a:t>= fp32 = bf16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111"/>
                </a:solidFill>
              </a:defRPr>
            </a:pPr>
            <a:r>
              <a:t>메커니즘: 라운딩 주입 횟수가 T회(매 토큰 재귀 — 오차 복리) → T/c회(청크 개루프 — 복리 없음)로 줄기 때문.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사슬: [R 학습 0.04%] → [티어링 실행권] → [청크 개루프] → [fp8 공짜]. 관문마다 실측으로 잠김.</a:t>
            </a:r>
          </a:p>
          <a:p>
            <a:pPr algn="l">
              <a:defRPr sz="1300" b="0">
                <a:solidFill>
                  <a:srgbClr val="111111"/>
                </a:solidFill>
              </a:defRPr>
            </a:pPr>
            <a:r>
              <a:t>capacity 회계: bf16-cold는 총 state 메모리도 0.625× (대역폭 2.17×와 용량 −37%를 동시에) — "용량 태워 속도 샀다" 비판의 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A365D"/>
                </a:solidFill>
              </a:defRPr>
            </a:pPr>
            <a:r>
              <a:t>12. 현재 상태와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111"/>
                </a:solidFill>
              </a:defRPr>
            </a:pPr>
            <a:r>
              <a:t>완료 (실측):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0.04% retrofit 파이프라인 + 회전 불변성 (fresh = raw 정답수 동일, 공식 스택)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B200 속도 1.62~2.42× (fused, B=256 표준) + 배치 스윕/roofline/READ-WRITE 회계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공식 스택 정밀도×티어링 전수 매트릭스 + fp8 비대칭 면허 사슬 4-cell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삭제-vs-lazy 모티베이션 사다리 (−26.5 vs −0.5) · 이론 실측 E-T1/E-T2 (loss-정의 중요도 · 도메인 이식성)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GSM8K lossless 학습 레시피 (longcot2: 장문 CoT + c4·c8 가중)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진행 중 / 다음: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longcot2 공식 스택 재측정 (GSM8K/MATH-500) → 배포 ckpt 승격 — MATH −2.4 봉합이 목표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fp8 dequant-matvec 커널 (analytic 2.8×의 실측 앵커) · vLLM CUDA-graph e2e (~1.45× 목표)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· self-speculative decoding (hot-only draft α=0.91, 출력 exact — varlen verify 커널이 완성 조건, 1.6~1.8× 투영)</a:t>
            </a:r>
          </a:p>
          <a:p>
            <a:pPr algn="l">
              <a:defRPr sz="1400" b="0">
                <a:solidFill>
                  <a:srgbClr val="111111"/>
                </a:solidFill>
              </a:defRPr>
            </a:pPr>
          </a:p>
          <a:p>
            <a:pPr algn="l">
              <a:defRPr sz="1400" b="0">
                <a:solidFill>
                  <a:srgbClr val="111111"/>
                </a:solidFill>
              </a:defRPr>
            </a:pPr>
            <a:r>
              <a:t>장기: cold 티어를 CXL-PNM에 상주 (analytic 3.8× + state capacity 8×) — 티어링 구조가 HW 계층에 그대로 매핑됨.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